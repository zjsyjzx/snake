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贪吃蛇游戏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EDC"/>
                </a:solidFill>
                <a:latin typeface="Microsoft YaHei"/>
              </a:defRPr>
            </a:pPr>
            <a:r>
              <a:t>C++ 面向对象编程 — 课程设计汇报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AB4"/>
                </a:solidFill>
                <a:latin typeface="Microsoft YaHei"/>
              </a:defRPr>
            </a:pPr>
            <a:r>
              <a:t>WASD 移动  |  吃到 @ 得分  |  50 分获胜</a:t>
            </a:r>
            <a:br/>
            <a:r>
              <a:t>P 暂停 / Q 退出 / R 重玩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E78"/>
                </a:solidFill>
                <a:latin typeface="Microsoft YaHei"/>
              </a:defRPr>
            </a:pPr>
            <a:r>
              <a:t>课程设计汇报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874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128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AB4"/>
                </a:solidFill>
                <a:latin typeface="Microsoft YaHei"/>
              </a:defRPr>
            </a:pPr>
            <a:r>
              <a:t>功能介绍、玩法规则、运行效果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06040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697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OOP 设计详解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99008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AB4"/>
                </a:solidFill>
                <a:latin typeface="Microsoft YaHei"/>
              </a:defRPr>
            </a:pPr>
            <a:r>
              <a:t>类继承结构、虚函数多态、封装优势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383280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429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现代 C++ 特性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7673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AB4"/>
                </a:solidFill>
                <a:latin typeface="Microsoft YaHei"/>
              </a:defRPr>
            </a:pPr>
            <a:r>
              <a:t>deque、范围 for、auto、override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160520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251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206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核心难点与解决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5445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AB4"/>
                </a:solidFill>
                <a:latin typeface="Microsoft YaHei"/>
              </a:defRPr>
            </a:pPr>
            <a:r>
              <a:t>暂停 Bug 的发现、定位与修复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937760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029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983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代码改进对比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3218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AB4"/>
                </a:solidFill>
                <a:latin typeface="Microsoft YaHei"/>
              </a:defRPr>
            </a:pPr>
            <a:r>
              <a:t>改进前后关键差异一览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5715000"/>
            <a:ext cx="548640" cy="548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806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760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编译运行 &amp; 总结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60990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AB4"/>
                </a:solidFill>
                <a:latin typeface="Microsoft YaHei"/>
              </a:defRPr>
            </a:pPr>
            <a:r>
              <a:t>环境命令、收获与展望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一、项目概述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FB9"/>
                </a:solidFill>
                <a:latin typeface="Microsoft YaHei"/>
              </a:defRPr>
            </a:pPr>
            <a:r>
              <a:t>功能与玩法规则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75488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EDC"/>
                </a:solidFill>
                <a:latin typeface="Microsoft YaHei"/>
              </a:defRPr>
            </a:pPr>
            <a:r>
              <a:t>游戏简介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经典贪吃蛇游戏，运行在 Windows 控制台中。玩家通过键盘控制蛇移动，吃到食物增长身体并加分。</a:t>
            </a:r>
          </a:p>
          <a:p>
            <a:pPr>
              <a:spcAft>
                <a:spcPts val="14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200" b="1">
                <a:solidFill>
                  <a:srgbClr val="F09632"/>
                </a:solidFill>
                <a:latin typeface="Microsoft YaHei"/>
              </a:defRPr>
            </a:pPr>
            <a:r>
              <a:t>核心规则</a:t>
            </a:r>
          </a:p>
          <a:p>
            <a:pPr>
              <a:spcAft>
                <a:spcPts val="14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WASD 键控制移动方向</a:t>
            </a:r>
          </a:p>
          <a:p>
            <a:pPr>
              <a:spcAft>
                <a:spcPts val="14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碰墙或碰自身即游戏结束</a:t>
            </a:r>
          </a:p>
          <a:p>
            <a:pPr>
              <a:spcAft>
                <a:spcPts val="14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每吃到一个 @ 加 1 分，蛇身 +1</a:t>
            </a:r>
          </a:p>
          <a:p>
            <a:pPr>
              <a:spcAft>
                <a:spcPts val="14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达到 50 分获胜</a:t>
            </a:r>
          </a:p>
          <a:p>
            <a:pPr>
              <a:spcAft>
                <a:spcPts val="14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P 键暂停，Q 键退出，R 键重玩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EDC"/>
                </a:solidFill>
                <a:latin typeface="Microsoft YaHei"/>
              </a:defRPr>
            </a:pPr>
            <a:r>
              <a:t>技术要点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F09632"/>
                </a:solidFill>
                <a:latin typeface="Microsoft YaHei"/>
              </a:defRPr>
            </a:pPr>
            <a:r>
              <a:t>语言 &amp; 平台</a:t>
            </a:r>
          </a:p>
          <a:p>
            <a:pPr>
              <a:spcAft>
                <a:spcPts val="9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C++（C++11 标准）</a:t>
            </a:r>
          </a:p>
          <a:p>
            <a:pPr>
              <a:spcAft>
                <a:spcPts val="9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Windows 控制台</a:t>
            </a:r>
          </a:p>
          <a:p>
            <a:pPr>
              <a:spcAft>
                <a:spcPts val="9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编译器：MinGW g++ / MSVC</a:t>
            </a:r>
          </a:p>
          <a:p>
            <a:pPr>
              <a:spcAft>
                <a:spcPts val="900"/>
              </a:spcAft>
              <a:defRPr sz="10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2200" b="1">
                <a:solidFill>
                  <a:srgbClr val="F09632"/>
                </a:solidFill>
                <a:latin typeface="Microsoft YaHei"/>
              </a:defRPr>
            </a:pPr>
            <a:r>
              <a:t>关键技术</a:t>
            </a:r>
          </a:p>
          <a:p>
            <a:pPr>
              <a:spcAft>
                <a:spcPts val="9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面向对象：3 类 + 继承 + 虚函数</a:t>
            </a:r>
          </a:p>
          <a:p>
            <a:pPr>
              <a:spcAft>
                <a:spcPts val="9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Windows API：gotoxy / _kbhit</a:t>
            </a:r>
          </a:p>
          <a:p>
            <a:pPr>
              <a:spcAft>
                <a:spcPts val="9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数据结构：deque 管理蛇身</a:t>
            </a:r>
          </a:p>
          <a:p>
            <a:pPr>
              <a:spcAft>
                <a:spcPts val="9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渲染：字符串网格定位输出</a:t>
            </a:r>
          </a:p>
          <a:p>
            <a:pPr>
              <a:spcAft>
                <a:spcPts val="900"/>
              </a:spcAft>
              <a:defRPr sz="10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2200" b="1">
                <a:solidFill>
                  <a:srgbClr val="F09632"/>
                </a:solidFill>
                <a:latin typeface="Microsoft YaHei"/>
              </a:defRPr>
            </a:pPr>
            <a:r>
              <a:t>适用平台</a:t>
            </a:r>
          </a:p>
          <a:p>
            <a:pPr>
              <a:spcAft>
                <a:spcPts val="9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D2D7DC"/>
                </a:solidFill>
                <a:latin typeface="Microsoft YaHei"/>
              </a:defRPr>
            </a:pPr>
            <a:r>
              <a:t>  仅 Windows（依赖 conio.h / windows.h）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二、OOP 设计详解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FB9"/>
                </a:solidFill>
                <a:latin typeface="Microsoft YaHei"/>
              </a:defRPr>
            </a:pPr>
            <a:r>
              <a:t>类继承结构 / 虚函数多态 / 封装优势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484632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类继承关系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286000"/>
            <a:ext cx="3108960" cy="1005840"/>
          </a:xfrm>
          <a:prstGeom prst="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point（基类）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700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EBF5"/>
                </a:solidFill>
                <a:latin typeface="Consolas"/>
              </a:defRPr>
            </a:pPr>
            <a:r>
              <a:t>int x, y  /  get/set 坐标</a:t>
            </a:r>
            <a:br/>
            <a:r>
              <a:t>virtual void update(...) {}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37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EDC"/>
                </a:solidFill>
                <a:latin typeface="Microsoft YaHei"/>
              </a:defRPr>
            </a:pPr>
            <a:r>
              <a:t>public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840480"/>
            <a:ext cx="2377440" cy="2011680"/>
          </a:xfrm>
          <a:prstGeom prst="rect">
            <a:avLst/>
          </a:prstGeom>
          <a:solidFill>
            <a:srgbClr val="1E7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snake（蛇）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97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8E1D2"/>
                </a:solidFill>
                <a:latin typeface="Consolas"/>
              </a:defRPr>
            </a:pPr>
            <a:r>
              <a:t>deque&lt;snake*&gt; body</a:t>
            </a:r>
            <a:br/>
            <a:r>
              <a:t>int direction</a:t>
            </a:r>
            <a:br/>
            <a:r>
              <a:t>changeDirection()</a:t>
            </a:r>
            <a:br/>
            <a:r>
              <a:t>checkCollision()</a:t>
            </a:r>
            <a:br/>
            <a:r>
              <a:t>update() override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840480"/>
            <a:ext cx="2377440" cy="2011680"/>
          </a:xfrm>
          <a:prstGeom prst="rect">
            <a:avLst/>
          </a:prstGeom>
          <a:solidFill>
            <a:srgbClr val="1E7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apple（食物）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297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8E1D2"/>
                </a:solidFill>
                <a:latin typeface="Consolas"/>
              </a:defRPr>
            </a:pPr>
            <a:r>
              <a:t>继承 x, y 坐标</a:t>
            </a:r>
            <a:br/>
            <a:r>
              <a:t>rand() 生成位置</a:t>
            </a:r>
            <a:br/>
            <a:r>
              <a:t>update() override</a:t>
            </a:r>
            <a:br/>
            <a:r>
              <a:t>被吃后重新随机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554480"/>
            <a:ext cx="5029200" cy="484632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64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设计说明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9456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09632"/>
                </a:solidFill>
                <a:latin typeface="Microsoft YaHei"/>
              </a:defRPr>
            </a:pPr>
            <a:r>
              <a:t>为什么 snake、apple 继承 point？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蛇头是一个坐标点，每个身体段也是点。食物同样是一个坐标点。将坐标属性提取到 point 基类，派生类直接复用。</a:t>
            </a:r>
          </a:p>
          <a:p>
            <a:pPr>
              <a:spcAft>
                <a:spcPts val="5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F09632"/>
                </a:solidFill>
                <a:latin typeface="Microsoft YaHei"/>
              </a:defRPr>
            </a:pPr>
            <a:r>
              <a:t>虚函数 update() 的多态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point 定义 virtual void update()，snake 和 apple 各自 override。主循环调用 update() 时根据实际对象类型分派到对应实现。</a:t>
            </a:r>
          </a:p>
          <a:p>
            <a:pPr>
              <a:spcAft>
                <a:spcPts val="5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F09632"/>
                </a:solidFill>
                <a:latin typeface="Microsoft YaHei"/>
              </a:defRPr>
            </a:pPr>
            <a:r>
              <a:t>封装的好处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蛇的方向/身体数据隐藏在类内部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外部只能通过公开方法访问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改 snake 逻辑不影响其他代码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新增障碍物只需继承 point 即可</a:t>
            </a:r>
          </a:p>
          <a:p>
            <a:pPr>
              <a:spcAft>
                <a:spcPts val="5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800" b="1">
                <a:solidFill>
                  <a:srgbClr val="F09632"/>
                </a:solidFill>
                <a:latin typeface="Microsoft YaHei"/>
              </a:defRPr>
            </a:pPr>
            <a:r>
              <a:t>非 OOP 的问题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全局变量随处可改，bug 难追踪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所有函数混杂，修改牵一发动全身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三、现代 C++ 特性运用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FB9"/>
                </a:solidFill>
                <a:latin typeface="Microsoft YaHei"/>
              </a:defRPr>
            </a:pPr>
            <a:r>
              <a:t>deque / 范围 for / auto / override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155448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EDC"/>
                </a:solidFill>
                <a:latin typeface="Microsoft YaHei"/>
              </a:defRPr>
            </a:pPr>
            <a:r>
              <a:t>deque 管理蛇身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965960"/>
            <a:ext cx="4389120" cy="1051560"/>
          </a:xfrm>
          <a:prstGeom prst="rect">
            <a:avLst/>
          </a:prstGeom>
          <a:solidFill>
            <a:srgbClr val="1E1E28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deque&lt;snake*&gt; body;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body.push_front(newHead);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body.pop_back();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65960"/>
            <a:ext cx="5486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传统：point body[100]; // 定长数组 + 手动维护索引</a:t>
            </a:r>
          </a:p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优势：自动分配内存，双端操作高效，避免数组越界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39"/>
            <a:ext cx="10698480" cy="155448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649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EDC"/>
                </a:solidFill>
                <a:latin typeface="Microsoft YaHei"/>
              </a:defRPr>
            </a:pPr>
            <a:r>
              <a:t>范围 for + auto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703319"/>
            <a:ext cx="4389120" cy="1051560"/>
          </a:xfrm>
          <a:prstGeom prst="rect">
            <a:avLst/>
          </a:prstGeom>
          <a:solidFill>
            <a:srgbClr val="1E1E28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7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for (auto seg : body) {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    if (seg != this) delete seg;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703319"/>
            <a:ext cx="5486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传统：for (size_t i=0; i&lt;body.size(); i++)</a:t>
            </a:r>
          </a:p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优势：语义清晰，防止索引错误，auto 自动推导类型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10698480" cy="1554480"/>
          </a:xfrm>
          <a:prstGeom prst="rect">
            <a:avLst/>
          </a:prstGeom>
          <a:solidFill>
            <a:srgbClr val="232630"/>
          </a:solidFill>
          <a:ln w="190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02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EDC"/>
                </a:solidFill>
                <a:latin typeface="Microsoft YaHei"/>
              </a:defRPr>
            </a:pPr>
            <a:r>
              <a:t>override 关键字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440680"/>
            <a:ext cx="4389120" cy="1051560"/>
          </a:xfrm>
          <a:prstGeom prst="rect">
            <a:avLst/>
          </a:prstGeom>
          <a:solidFill>
            <a:srgbClr val="1E1E28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80644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void update(...) override {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    // 编译器校验是否正确重写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440680"/>
            <a:ext cx="5486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传统：void update(...) { } // 签名写错也不报错</a:t>
            </a:r>
          </a:p>
          <a:p>
            <a:pPr>
              <a:spcAft>
                <a:spcPts val="7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优势：编译期检查，防止手误写成新函数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四、核心难点 — 暂停 Bug 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FB9"/>
                </a:solidFill>
                <a:latin typeface="Microsoft YaHei"/>
              </a:defRPr>
            </a:pPr>
            <a:r>
              <a:t>现象 → 根因 → 解决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029200" cy="2743200"/>
          </a:xfrm>
          <a:prstGeom prst="rect">
            <a:avLst/>
          </a:prstGeom>
          <a:solidFill>
            <a:srgbClr val="232630"/>
          </a:solidFill>
          <a:ln w="19050">
            <a:solidFill>
              <a:srgbClr val="E6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4650"/>
                </a:solidFill>
                <a:latin typeface="Microsoft YaHei"/>
              </a:defRPr>
            </a:pPr>
            <a:r>
              <a:t>问题现象 &amp; 根因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AD23C"/>
                </a:solidFill>
                <a:latin typeface="Microsoft YaHei"/>
              </a:defRPr>
            </a:pPr>
            <a:r>
              <a:t>现象</a:t>
            </a:r>
          </a:p>
          <a:p>
            <a:pPr>
              <a:spcAft>
                <a:spcPts val="8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按 P 暂停正常，再按 P 无法恢复，一直卡在暂停。</a:t>
            </a:r>
          </a:p>
          <a:p>
            <a:pPr>
              <a:spcAft>
                <a:spcPts val="800"/>
              </a:spcAft>
              <a:defRPr sz="6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AD23C"/>
                </a:solidFill>
                <a:latin typeface="Microsoft YaHei"/>
              </a:defRPr>
            </a:pPr>
            <a:r>
              <a:t>根因</a:t>
            </a:r>
          </a:p>
          <a:p>
            <a:pPr>
              <a:spcAft>
                <a:spcPts val="8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stop() 恢复后未清除 key 变量，key 仍是 'p'。</a:t>
            </a:r>
          </a:p>
          <a:p>
            <a:pPr>
              <a:spcAft>
                <a:spcPts val="8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下一帧检测到 key=='p'，再次进入暂停——死循环。</a:t>
            </a:r>
          </a:p>
          <a:p>
            <a:pPr>
              <a:spcAft>
                <a:spcPts val="8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恢复 → key 未清 → 再次暂停 → 恢复 →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2743200"/>
          </a:xfrm>
          <a:prstGeom prst="rect">
            <a:avLst/>
          </a:prstGeom>
          <a:solidFill>
            <a:srgbClr val="232630"/>
          </a:solidFill>
          <a:ln w="19050">
            <a:solidFill>
              <a:srgbClr val="28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8B464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5212080" cy="2148840"/>
          </a:xfrm>
          <a:prstGeom prst="rect">
            <a:avLst/>
          </a:prstGeom>
          <a:solidFill>
            <a:srgbClr val="1E1E28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122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B464"/>
                </a:solidFill>
                <a:latin typeface="Microsoft YaHei"/>
              </a:defRPr>
            </a:pPr>
            <a:r>
              <a:t>修复前后对比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// 修复前：只设置 pause = false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if (temp == 'p' || temp == 'P') {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    pause = false;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    // BUG! 未清除 key 的残留值！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// 修复后：增加 key = '\0'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if (temp == 'p' || temp == 'P') {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    pause = false;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    gotoxy(0, height);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    cout &lt;&lt; "                    ";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    key = '\0';   // 关键：清除按键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10698480" cy="201168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调试过程与心得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步骤 1：确认 stop() 循环本身正常 — 按 P 确实能退出循环，pause 变 false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步骤 2：关注循环退出后的状态 — 发现 key 值仍然是 'p'，没有被清理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步骤 3：推演主循环流程 — 恢复后的下一帧，key=='p' 再次触发暂停，形成死循环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步骤 4：精准修复 — 在恢复时增加 key = '\0'，彻底清除残留按键值</a:t>
            </a:r>
          </a:p>
          <a:p>
            <a:pPr>
              <a:spcAft>
                <a:spcPts val="500"/>
              </a:spcAft>
              <a:defRPr sz="4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F09632"/>
                </a:solidFill>
                <a:latin typeface="Microsoft YaHei"/>
              </a:defRPr>
            </a:pPr>
            <a:r>
              <a:t>教训：状态变量使用后要及时清理，否则被下次循环误读。好的调试 = 假设 + 验证 + 缩小范围 + 找根因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五、代码改进对比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FB9"/>
                </a:solidFill>
                <a:latin typeface="Microsoft YaHei"/>
              </a:defRPr>
            </a:pPr>
            <a:r>
              <a:t>snake.cpp 关键改进一览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solidFill>
            <a:srgbClr val="32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改进项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3560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改进前 (snake.cpp)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4356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改进后 / 建议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11430000" cy="475488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47671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全局变量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47671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3 个 (width/height/console)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47671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命名空间 + 类内封装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95727"/>
            <a:ext cx="11430000" cy="475488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68879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继承关系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68879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snake/apple -&gt; point（不当）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468879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有意义的 IS-A 继承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16935"/>
            <a:ext cx="11430000" cy="475488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9008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虚函数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990087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virtual update() {}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90087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保留虚函数 + override 显式标注重写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38144"/>
            <a:ext cx="11430000" cy="475488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1129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方向表示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51129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裸整数 0/1/2/3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51129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enum / enum class 强类型枚举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59352"/>
            <a:ext cx="11430000" cy="475488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3250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随机数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03250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rand() % N（取模偏差）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03250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&lt;random&gt; mt19937 + 均匀分布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80559"/>
            <a:ext cx="11430000" cy="475488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53711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蛇身存储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553711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deque&lt;snake*&gt; 裸指针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553711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deque&lt;Point&gt; 值类型（或智能指针）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01768"/>
            <a:ext cx="11430000" cy="475488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0749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遍历方式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07492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for (size_t i=0; i&lt;size; i++)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0749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for (auto&amp; seg : body) 范围 for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522975"/>
            <a:ext cx="11430000" cy="475488"/>
          </a:xfrm>
          <a:prstGeom prst="rect">
            <a:avLst/>
          </a:prstGeom>
          <a:solidFill>
            <a:srgbClr val="26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9612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渲染方式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596127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字符串拼接 + 手动索引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596127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vector&lt;string&gt; 二维网格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44183"/>
            <a:ext cx="11430000" cy="475488"/>
          </a:xfrm>
          <a:prstGeom prst="rect">
            <a:avLst/>
          </a:prstGeom>
          <a:solidFill>
            <a:srgbClr val="23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117335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暂停 Bug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6117335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4650"/>
                </a:solidFill>
                <a:latin typeface="Microsoft YaHei"/>
              </a:defRPr>
            </a:pPr>
            <a:r>
              <a:t>未清除 key，导致死循环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6117335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B464"/>
                </a:solidFill>
                <a:latin typeface="Microsoft YaHei"/>
              </a:defRPr>
            </a:pPr>
            <a:r>
              <a:t>key = '\0' 清除残留状态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C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六、编译运行 &amp; 总结展望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FB9"/>
                </a:solidFill>
                <a:latin typeface="Microsoft YaHei"/>
              </a:defRPr>
            </a:pPr>
            <a:r>
              <a:t>环境要求 / 编译命令 / 收获与改进方向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029200" cy="475488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64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编译与运行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09632"/>
                </a:solidFill>
                <a:latin typeface="Microsoft YaHei"/>
              </a:defRPr>
            </a:pPr>
            <a:r>
              <a:t>环境要求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Windows 10/11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MinGW g++ 或 Visual Studio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C++11 标准</a:t>
            </a:r>
          </a:p>
          <a:p>
            <a:pPr>
              <a:spcAft>
                <a:spcPts val="900"/>
              </a:spcAft>
              <a:defRPr sz="1600">
                <a:solidFill>
                  <a:srgbClr val="D2D7DC"/>
                </a:solidFill>
                <a:latin typeface="Microsoft YaHei"/>
              </a:defRPr>
            </a:pPr>
            <a:r>
              <a:t>  控制台窗口建议 120x30+</a:t>
            </a:r>
          </a:p>
          <a:p>
            <a:pPr>
              <a:spcAft>
                <a:spcPts val="9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2000" b="1">
                <a:solidFill>
                  <a:srgbClr val="F09632"/>
                </a:solidFill>
                <a:latin typeface="Microsoft YaHei"/>
              </a:defRPr>
            </a:pPr>
            <a:r>
              <a:t>编译命令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5029200" cy="1371600"/>
          </a:xfrm>
          <a:prstGeom prst="rect">
            <a:avLst/>
          </a:prstGeom>
          <a:solidFill>
            <a:srgbClr val="1E1E28"/>
          </a:solidFill>
          <a:ln w="19050">
            <a:solidFill>
              <a:srgbClr val="37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4106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EDC"/>
                </a:solidFill>
                <a:latin typeface="Microsoft YaHei"/>
              </a:defRPr>
            </a:pPr>
            <a:r>
              <a:t>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:: MinGW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g++ -std=c++11 snake.cpp -o snake.exe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:: Visual Studio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cl /EHsc snake.cpp /Fe:snake.exe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:: 运行</a:t>
            </a:r>
          </a:p>
          <a:p>
            <a:pPr>
              <a:spcAft>
                <a:spcPts val="300"/>
              </a:spcAft>
              <a:defRPr sz="1100">
                <a:solidFill>
                  <a:srgbClr val="C3CDD7"/>
                </a:solidFill>
                <a:latin typeface="Microsoft YaHei"/>
              </a:defRPr>
            </a:pPr>
            <a:r>
              <a:t>snake.exe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5029200" cy="4754880"/>
          </a:xfrm>
          <a:prstGeom prst="rect">
            <a:avLst/>
          </a:prstGeom>
          <a:solidFill>
            <a:srgbClr val="232630"/>
          </a:solidFill>
          <a:ln w="1905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64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EDC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14884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8B464"/>
                </a:solidFill>
                <a:latin typeface="Microsoft YaHei"/>
              </a:defRPr>
            </a:pPr>
            <a:r>
              <a:t>收获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OOP 设计：封装/继承/多态的实际应用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现代 C++：deque/范围for/auto/override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调试能力：系统性定位 + 精准修复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工程思维：好设计 &gt; 能运行的代码</a:t>
            </a:r>
          </a:p>
          <a:p>
            <a:pPr>
              <a:spcAft>
                <a:spcPts val="500"/>
              </a:spcAft>
              <a:defRPr sz="800" b="0">
                <a:solidFill>
                  <a:srgbClr val="D2D7DC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2000" b="1">
                <a:solidFill>
                  <a:srgbClr val="F09632"/>
                </a:solidFill>
                <a:latin typeface="Microsoft YaHei"/>
              </a:defRPr>
            </a:pPr>
            <a:r>
              <a:t>不足与改进方向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食物可能生成在蛇身上 → 合法性检查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rand() 伪随机 → 改用 mt19937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无速度变化 → 随分数减少 Sleep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渲染有闪烁 → 双缓冲技术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裸指针 → 改用 unique_ptr</a:t>
            </a:r>
          </a:p>
          <a:p>
            <a:pPr>
              <a:spcAft>
                <a:spcPts val="500"/>
              </a:spcAft>
              <a:defRPr sz="1500">
                <a:solidFill>
                  <a:srgbClr val="D2D7DC"/>
                </a:solidFill>
                <a:latin typeface="Microsoft YaHei"/>
              </a:defRPr>
            </a:pPr>
            <a:r>
              <a:t>  可扩展关卡/障碍物/排行榜/音效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457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BEDC"/>
                </a:solidFill>
                <a:latin typeface="Microsoft YaHei"/>
              </a:defRPr>
            </a:pPr>
            <a:r>
              <a:t>贪吃蛇游戏 — C++ 课程设计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AB4"/>
                </a:solidFill>
                <a:latin typeface="Microsoft YaHei"/>
              </a:defRPr>
            </a:pPr>
            <a:r>
              <a:t>面向对象设计 · 现代 C++ · 调试经验 · 工程实践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6E78"/>
                </a:solidFill>
                <a:latin typeface="Microsoft YaHei"/>
              </a:defRPr>
            </a:pPr>
            <a:r>
              <a:t>Windows 控制台  |  WASD 移动  |  P 暂停  |  Q 退出  |  R 重玩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