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0"/>
            <a:ext cx="12191695" cy="27432"/>
          </a:xfrm>
          <a:prstGeom prst="rect">
            <a:avLst/>
          </a:prstGeom>
          <a:solidFill>
            <a:srgbClr val="3C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贪吃蛇游戏 — C++课程设计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BEDC"/>
                </a:solidFill>
                <a:latin typeface="Microsoft YaHei"/>
              </a:defRPr>
            </a:pPr>
            <a:r>
              <a:t>面向对象编程 · 现代C++特性 · Windows控制台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AB4"/>
                </a:solidFill>
                <a:latin typeface="Microsoft YaHei"/>
              </a:defRPr>
            </a:pPr>
            <a:r>
              <a:t>基于 Windows 控制台的经典贪吃蛇游戏</a:t>
            </a:r>
            <a:br/>
            <a:r>
              <a:t>采用面向对象设计，运用多种现代 C++ 特性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6E78"/>
                </a:solidFill>
                <a:latin typeface="Microsoft YaHei"/>
              </a:defRPr>
            </a:pPr>
            <a:r>
              <a:t>WASD 控制移动  |  吃到 @ 得分  |  50 分获胜  |  P 暂停 / Q 退出 / R 重玩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46E78"/>
                </a:solidFill>
                <a:latin typeface="Microsoft YaHei"/>
              </a:defRPr>
            </a:pPr>
            <a:r>
              <a:t>汇报讲解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DB5BD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645920"/>
            <a:ext cx="548640" cy="5486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19072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6642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93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4"/>
                </a:solidFill>
                <a:latin typeface="Microsoft YaHei"/>
              </a:defRPr>
            </a:pPr>
            <a:r>
              <a:t>功能介绍、玩法规则、运行效果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359152"/>
            <a:ext cx="548640" cy="5486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432304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377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OOP 设计详解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7066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4"/>
                </a:solidFill>
                <a:latin typeface="Microsoft YaHei"/>
              </a:defRPr>
            </a:pPr>
            <a:r>
              <a:t>类继承结构、虚函数与多态、封装优势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072384"/>
            <a:ext cx="548640" cy="5486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145536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0906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现代 C++ 特性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41985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4"/>
                </a:solidFill>
                <a:latin typeface="Microsoft YaHei"/>
              </a:defRPr>
            </a:pPr>
            <a:r>
              <a:t>deque / 范围 for / auto / override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785615"/>
            <a:ext cx="548640" cy="5486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858767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803903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核心难点与解决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133087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4"/>
                </a:solidFill>
                <a:latin typeface="Microsoft YaHei"/>
              </a:defRPr>
            </a:pPr>
            <a:r>
              <a:t>暂停 Bug 的发现、定位与修复过程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498848"/>
            <a:ext cx="548640" cy="5486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572000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51713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代码对比分析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8463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4"/>
                </a:solidFill>
                <a:latin typeface="Microsoft YaHei"/>
              </a:defRPr>
            </a:pPr>
            <a:r>
              <a:t>OOP vs 面向过程、改进前后对照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212080"/>
            <a:ext cx="548640" cy="5486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285232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2303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编译运行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5595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4"/>
                </a:solidFill>
                <a:latin typeface="Microsoft YaHei"/>
              </a:defRPr>
            </a:pPr>
            <a:r>
              <a:t>环境要求、编译命令、操作说明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5925312"/>
            <a:ext cx="548640" cy="5486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998464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943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627278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4"/>
                </a:solidFill>
                <a:latin typeface="Microsoft YaHei"/>
              </a:defRPr>
            </a:pPr>
            <a:r>
              <a:t>收获心得、存在不足、改进方向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一、项目概述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DB5BD"/>
                </a:solidFill>
                <a:latin typeface="Microsoft YaHei"/>
              </a:defRPr>
            </a:pPr>
            <a:r>
              <a:t>功能 / 玩法规则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303520" cy="4846320"/>
          </a:xfrm>
          <a:prstGeom prst="rect">
            <a:avLst/>
          </a:prstGeom>
          <a:solidFill>
            <a:srgbClr val="232630"/>
          </a:solidFill>
          <a:ln w="1905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EDC"/>
                </a:solidFill>
                <a:latin typeface="Microsoft YaHei"/>
              </a:defRPr>
            </a:pPr>
            <a:r>
              <a:t>游戏简介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本游戏是一款经典的贪吃蛇游戏，运行在 Windows 控制台环境中。玩家通过键盘控制蛇的移动，吃到食物即可增长身体并增加分数。</a:t>
            </a:r>
          </a:p>
          <a:p>
            <a:pPr>
              <a:spcAft>
                <a:spcPts val="1100"/>
              </a:spcAft>
              <a:defRPr sz="6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1100"/>
              </a:spcAft>
              <a:defRPr sz="2000" b="1">
                <a:solidFill>
                  <a:srgbClr val="F09632"/>
                </a:solidFill>
                <a:latin typeface="Microsoft YaHei"/>
              </a:defRPr>
            </a:pPr>
            <a:r>
              <a:t>核心规则</a:t>
            </a:r>
          </a:p>
          <a:p>
            <a:pPr>
              <a:spcAft>
                <a:spcPts val="11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11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WASD 键控制蛇的移动方向（上/左/下/右）</a:t>
            </a:r>
          </a:p>
          <a:p>
            <a:pPr>
              <a:spcAft>
                <a:spcPts val="11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蛇头碰到墙壁或自己的身体即游戏结束</a:t>
            </a:r>
          </a:p>
          <a:p>
            <a:pPr>
              <a:spcAft>
                <a:spcPts val="11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每吃到一个食物（@），蛇身 +1，分数 +1</a:t>
            </a:r>
          </a:p>
          <a:p>
            <a:pPr>
              <a:spcAft>
                <a:spcPts val="11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达到 50 分即可获胜</a:t>
            </a:r>
          </a:p>
          <a:p>
            <a:pPr>
              <a:spcAft>
                <a:spcPts val="11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按 P 键暂停/继续游戏</a:t>
            </a:r>
          </a:p>
          <a:p>
            <a:pPr>
              <a:spcAft>
                <a:spcPts val="11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按 Q 键随时退出游戏</a:t>
            </a:r>
          </a:p>
          <a:p>
            <a:pPr>
              <a:spcAft>
                <a:spcPts val="11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游戏结束后按 R 键重新开始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03520" cy="4846320"/>
          </a:xfrm>
          <a:prstGeom prst="rect">
            <a:avLst/>
          </a:prstGeom>
          <a:solidFill>
            <a:srgbClr val="232630"/>
          </a:solidFill>
          <a:ln w="1905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EDC"/>
                </a:solidFill>
                <a:latin typeface="Microsoft YaHei"/>
              </a:defRPr>
            </a:pPr>
            <a:r>
              <a:t>技术要点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09632"/>
                </a:solidFill>
                <a:latin typeface="Microsoft YaHei"/>
              </a:defRPr>
            </a:pPr>
            <a:r>
              <a:t>开发环境</a:t>
            </a:r>
          </a:p>
          <a:p>
            <a:pPr>
              <a:spcAft>
                <a:spcPts val="9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语言：C++（C++11 标准）</a:t>
            </a:r>
          </a:p>
          <a:p>
            <a:pPr>
              <a:spcAft>
                <a:spcPts val="9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平台：Windows 控制台</a:t>
            </a:r>
          </a:p>
          <a:p>
            <a:pPr>
              <a:spcAft>
                <a:spcPts val="9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编译器：MinGW g++ 或 MSVC</a:t>
            </a:r>
          </a:p>
          <a:p>
            <a:pPr>
              <a:spcAft>
                <a:spcPts val="900"/>
              </a:spcAft>
              <a:defRPr sz="8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2000" b="1">
                <a:solidFill>
                  <a:srgbClr val="F09632"/>
                </a:solidFill>
                <a:latin typeface="Microsoft YaHei"/>
              </a:defRPr>
            </a:pPr>
            <a:r>
              <a:t>关键技术</a:t>
            </a:r>
          </a:p>
          <a:p>
            <a:pPr>
              <a:spcAft>
                <a:spcPts val="9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面向对象设计：3个类 + 继承 + 多态</a:t>
            </a:r>
          </a:p>
          <a:p>
            <a:pPr>
              <a:spcAft>
                <a:spcPts val="9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控制台 API：光标定位、非阻塞输入</a:t>
            </a:r>
          </a:p>
          <a:p>
            <a:pPr>
              <a:spcAft>
                <a:spcPts val="9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数据结构：deque 双端队列管理蛇身</a:t>
            </a:r>
          </a:p>
          <a:p>
            <a:pPr>
              <a:spcAft>
                <a:spcPts val="9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渲染：字符串网格 + gotoxy 定位输出</a:t>
            </a:r>
          </a:p>
          <a:p>
            <a:pPr>
              <a:spcAft>
                <a:spcPts val="900"/>
              </a:spcAft>
              <a:defRPr sz="8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2000" b="1">
                <a:solidFill>
                  <a:srgbClr val="F09632"/>
                </a:solidFill>
                <a:latin typeface="Microsoft YaHei"/>
              </a:defRPr>
            </a:pPr>
            <a:r>
              <a:t>调试难点</a:t>
            </a:r>
          </a:p>
          <a:p>
            <a:pPr>
              <a:spcAft>
                <a:spcPts val="9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暂停/恢复功能中的按键状态残留问题</a:t>
            </a:r>
          </a:p>
          <a:p>
            <a:pPr>
              <a:spcAft>
                <a:spcPts val="9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蛇身坐标与字符渲染的索引映射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二、OOP 设计详解 — 类继承结构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DB5BD"/>
                </a:solidFill>
                <a:latin typeface="Microsoft YaHei"/>
              </a:defRPr>
            </a:pPr>
            <a:r>
              <a:t>point（基类）→ snake / apple（派生类）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943600" cy="4846320"/>
          </a:xfrm>
          <a:prstGeom prst="rect">
            <a:avLst/>
          </a:prstGeom>
          <a:solidFill>
            <a:srgbClr val="232630"/>
          </a:solidFill>
          <a:ln w="1905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EDC"/>
                </a:solidFill>
                <a:latin typeface="Microsoft YaHei"/>
              </a:defRPr>
            </a:pPr>
            <a:r>
              <a:t>类继承关系图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286000"/>
            <a:ext cx="3200400" cy="13716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point（基类）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974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CEBF5"/>
                </a:solidFill>
                <a:latin typeface="Consolas"/>
              </a:defRPr>
            </a:pPr>
            <a:r>
              <a:t>int x,  int y</a:t>
            </a:r>
            <a:br/>
            <a:r>
              <a:t>getx() / gety()</a:t>
            </a:r>
            <a:br/>
            <a:r>
              <a:t>setx() / sety()</a:t>
            </a:r>
            <a:br/>
            <a:r>
              <a:t>virtual update(...) {}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703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EDC"/>
                </a:solidFill>
                <a:latin typeface="Microsoft YaHei"/>
              </a:defRPr>
            </a:pPr>
            <a:r>
              <a:t>public 继承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114800"/>
            <a:ext cx="2560320" cy="2011680"/>
          </a:xfrm>
          <a:prstGeom prst="rect">
            <a:avLst/>
          </a:prstGeom>
          <a:solidFill>
            <a:srgbClr val="1E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224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snake（蛇）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8E1D2"/>
                </a:solidFill>
                <a:latin typeface="Consolas"/>
              </a:defRPr>
            </a:pPr>
            <a:r>
              <a:t>deque&lt;snake*&gt; body</a:t>
            </a:r>
            <a:br/>
            <a:r>
              <a:t>int direction</a:t>
            </a:r>
            <a:br/>
            <a:r>
              <a:t>changeDirection()</a:t>
            </a:r>
            <a:br/>
            <a:r>
              <a:t>checkWallCollision()</a:t>
            </a:r>
            <a:br/>
            <a:r>
              <a:t>checkSelfCollision()</a:t>
            </a:r>
            <a:br/>
            <a:r>
              <a:t>update() override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4114800"/>
            <a:ext cx="2560320" cy="2011680"/>
          </a:xfrm>
          <a:prstGeom prst="rect">
            <a:avLst/>
          </a:prstGeom>
          <a:solidFill>
            <a:srgbClr val="1E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224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apple（食物）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553712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8E1D2"/>
                </a:solidFill>
                <a:latin typeface="Consolas"/>
              </a:defRPr>
            </a:pPr>
            <a:r>
              <a:t>（继承 x, y 坐标）</a:t>
            </a:r>
            <a:br/>
            <a:br/>
            <a:r>
              <a:t>rand() 生成随机位置</a:t>
            </a:r>
            <a:br/>
            <a:r>
              <a:t>update() override</a:t>
            </a:r>
            <a:br/>
            <a:r>
              <a:t>  -&gt; 被吃后重新随机位置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645920"/>
            <a:ext cx="4846320" cy="4846320"/>
          </a:xfrm>
          <a:prstGeom prst="rect">
            <a:avLst/>
          </a:prstGeom>
          <a:solidFill>
            <a:srgbClr val="232630"/>
          </a:solidFill>
          <a:ln w="1905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1737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EDC"/>
                </a:solidFill>
                <a:latin typeface="Microsoft YaHei"/>
              </a:defRPr>
            </a:pPr>
            <a:r>
              <a:t>设计思想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19456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09632"/>
                </a:solidFill>
                <a:latin typeface="Microsoft YaHei"/>
              </a:defRPr>
            </a:pPr>
            <a:r>
              <a:t>为什么 snake 和 apple 继承 point？</a:t>
            </a:r>
          </a:p>
          <a:p>
            <a:pPr>
              <a:spcAft>
                <a:spcPts val="4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蛇的头部是一个坐标点，蛇身的每一节也是坐标点构成的。食物同样是一个坐标点。因此将坐标属性提取到 point 基类中，snake 和 apple 继承 point 可以复用坐标管理代码。</a:t>
            </a:r>
          </a:p>
          <a:p>
            <a:pPr>
              <a:spcAft>
                <a:spcPts val="400"/>
              </a:spcAft>
              <a:defRPr sz="8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700" b="1">
                <a:solidFill>
                  <a:srgbClr val="F09632"/>
                </a:solidFill>
                <a:latin typeface="Microsoft YaHei"/>
              </a:defRPr>
            </a:pPr>
            <a:r>
              <a:t>虚函数 update() 的多态体现</a:t>
            </a:r>
          </a:p>
          <a:p>
            <a:pPr>
              <a:spcAft>
                <a:spcPts val="4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point 基类定义了 virtual void update() 虚函数，snake 和 apple 各自重写。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snake::update() — 处理方向变更、移动、碰撞检测、吃食物增长。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apple::update() — 被吃后重新生成随机位置。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游戏主循环中通过基类指针/引用调用 update()，运行时根据实际对象类型调用对应的重写版本。</a:t>
            </a:r>
          </a:p>
          <a:p>
            <a:pPr>
              <a:spcAft>
                <a:spcPts val="400"/>
              </a:spcAft>
              <a:defRPr sz="8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700" b="1">
                <a:solidFill>
                  <a:srgbClr val="F09632"/>
                </a:solidFill>
                <a:latin typeface="Microsoft YaHei"/>
              </a:defRPr>
            </a:pPr>
            <a:r>
              <a:t>封装带来的好处</a:t>
            </a:r>
          </a:p>
          <a:p>
            <a:pPr>
              <a:spcAft>
                <a:spcPts val="4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  蛇的方向和身体数据隐藏在类内部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  外部无法直接修改，避免全局变量问题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  修改蛇逻辑只改 snake 类，不影响其他部分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  新增障碍物只需新建 point 派生类即可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二、OOP 设计详解 — 对比面向过程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DB5BD"/>
                </a:solidFill>
                <a:latin typeface="Microsoft YaHei"/>
              </a:defRPr>
            </a:pPr>
            <a:r>
              <a:t>如果不使用 OOP，代码会变成什么样？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303520" cy="2560320"/>
          </a:xfrm>
          <a:prstGeom prst="rect">
            <a:avLst/>
          </a:prstGeom>
          <a:solidFill>
            <a:srgbClr val="232630"/>
          </a:solidFill>
          <a:ln w="19050">
            <a:solidFill>
              <a:srgbClr val="E6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64792"/>
            <a:ext cx="1645920" cy="320040"/>
          </a:xfrm>
          <a:prstGeom prst="rect">
            <a:avLst/>
          </a:prstGeom>
          <a:solidFill>
            <a:srgbClr val="E6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783080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面向过程写法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5303520" cy="1965960"/>
          </a:xfrm>
          <a:prstGeom prst="rect">
            <a:avLst/>
          </a:prstGeom>
          <a:solidFill>
            <a:srgbClr val="20202A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037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问题：全局变量随处可改，bug 难以追踪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// 所有数据都是全局变量，任何函数都能随意修改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int snakeX[100], snakeY[100];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int snakeLength = 3;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int direction = 0;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int foodX = 15, foodY = 12;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int score = 0;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// 所有函数都是全局函数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void moveSnake() {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int newX = snakeX[0] + dx[direction];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int newY = snakeY[0] + dy[direction];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// 直接操作全局数组，任何函数都能改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void drawGame() { /* 直接访问全局变量 */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303520" cy="2560320"/>
          </a:xfrm>
          <a:prstGeom prst="rect">
            <a:avLst/>
          </a:prstGeom>
          <a:solidFill>
            <a:srgbClr val="232630"/>
          </a:solidFill>
          <a:ln w="19050">
            <a:solidFill>
              <a:srgbClr val="28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764792"/>
            <a:ext cx="1645920" cy="320040"/>
          </a:xfrm>
          <a:prstGeom prst="rect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783080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OOP 写法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148840"/>
            <a:ext cx="5303520" cy="1965960"/>
          </a:xfrm>
          <a:prstGeom prst="rect">
            <a:avLst/>
          </a:prstGeom>
          <a:solidFill>
            <a:srgbClr val="20202A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2037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优势：封装、职责单一、易维护、可扩展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class Snake : public point {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private: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deque&lt;snake*&gt; body;   // 身体数据封装在类内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int direction;        // 方向私有，外部不可直接改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public: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void update(...) override { /* 蛇自己的逻辑 */ }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bool checkCollision() { /* 碰撞检测 */ }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};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class Apple : public point {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void update(...) override { /* 食物自己的逻辑 */ }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};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// 主循环简洁清晰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snake.update(key, eat, score, gameover);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apple.update(key, eat, score, gameover);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11155680" cy="2103120"/>
          </a:xfrm>
          <a:prstGeom prst="rect">
            <a:avLst/>
          </a:prstGeom>
          <a:solidFill>
            <a:srgbClr val="232630"/>
          </a:solidFill>
          <a:ln w="1905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EDC"/>
                </a:solidFill>
                <a:latin typeface="Microsoft YaHei"/>
              </a:defRPr>
            </a:pPr>
            <a:r>
              <a:t>OOP 三大优势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983480"/>
            <a:ext cx="3200400" cy="1508760"/>
          </a:xfrm>
          <a:prstGeom prst="rect">
            <a:avLst/>
          </a:prstGeom>
          <a:solidFill>
            <a:srgbClr val="262A34"/>
          </a:solidFill>
          <a:ln w="19050">
            <a:solidFill>
              <a:srgbClr val="28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8B464"/>
                </a:solidFill>
                <a:latin typeface="Microsoft YaHei"/>
              </a:defRPr>
            </a:pPr>
            <a:r>
              <a:t>可维护性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每个类职责单一</a:t>
            </a:r>
          </a:p>
          <a:p>
            <a:pPr>
              <a:spcAft>
                <a:spcPts val="6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修改蛇逻辑 → 只改 Snake 类</a:t>
            </a:r>
          </a:p>
          <a:p>
            <a:pPr>
              <a:spcAft>
                <a:spcPts val="6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修改食物 → 只改 Apple 类</a:t>
            </a:r>
          </a:p>
          <a:p>
            <a:pPr>
              <a:spcAft>
                <a:spcPts val="6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互不影响，不会牵一发动全身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4983480"/>
            <a:ext cx="3200400" cy="1508760"/>
          </a:xfrm>
          <a:prstGeom prst="rect">
            <a:avLst/>
          </a:prstGeom>
          <a:solidFill>
            <a:srgbClr val="262A34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EDC"/>
                </a:solidFill>
                <a:latin typeface="Microsoft YaHei"/>
              </a:defRPr>
            </a:pPr>
            <a:r>
              <a:t>可扩展性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3492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新增障碍物 → 继承 point 即可</a:t>
            </a:r>
          </a:p>
          <a:p>
            <a:pPr>
              <a:spcAft>
                <a:spcPts val="6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新增道具 → 新建派生类</a:t>
            </a:r>
          </a:p>
          <a:p>
            <a:pPr>
              <a:spcAft>
                <a:spcPts val="6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游戏主循环无需修改</a:t>
            </a:r>
          </a:p>
          <a:p>
            <a:pPr>
              <a:spcAft>
                <a:spcPts val="6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符合开闭原则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4983480"/>
            <a:ext cx="3200400" cy="1508760"/>
          </a:xfrm>
          <a:prstGeom prst="rect">
            <a:avLst/>
          </a:prstGeom>
          <a:solidFill>
            <a:srgbClr val="262A34"/>
          </a:solidFill>
          <a:ln w="19050">
            <a:solidFill>
              <a:srgbClr val="F0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9632"/>
                </a:solidFill>
                <a:latin typeface="Microsoft YaHei"/>
              </a:defRPr>
            </a:pPr>
            <a:r>
              <a:t>代码复用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3492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point 基类把坐标代码写一次</a:t>
            </a:r>
          </a:p>
          <a:p>
            <a:pPr>
              <a:spcAft>
                <a:spcPts val="6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snake / apple 直接继承使用</a:t>
            </a:r>
          </a:p>
          <a:p>
            <a:pPr>
              <a:spcAft>
                <a:spcPts val="6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避免了重复定义</a:t>
            </a:r>
          </a:p>
          <a:p>
            <a:pPr>
              <a:spcAft>
                <a:spcPts val="6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减少了代码冗余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三、现代 C++ 特性运用分析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DB5BD"/>
                </a:solidFill>
                <a:latin typeface="Microsoft YaHei"/>
              </a:defRPr>
            </a:pPr>
            <a:r>
              <a:t>deque / 范围 for / auto — 对比传统写法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657600" cy="2286000"/>
          </a:xfrm>
          <a:prstGeom prst="rect">
            <a:avLst/>
          </a:prstGeom>
          <a:solidFill>
            <a:srgbClr val="232630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BEDC"/>
                </a:solidFill>
                <a:latin typeface="Microsoft YaHei"/>
              </a:defRPr>
            </a:pPr>
            <a:r>
              <a:t>deque 管理蛇身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8B464"/>
                </a:solidFill>
                <a:latin typeface="Consolas"/>
              </a:defRPr>
            </a:pPr>
            <a:r>
              <a:t>现代写法</a:t>
            </a:r>
          </a:p>
          <a:p>
            <a:pPr>
              <a:spcAft>
                <a:spcPts val="300"/>
              </a:spcAft>
              <a:defRPr sz="1200">
                <a:solidFill>
                  <a:srgbClr val="D2D7DC"/>
                </a:solidFill>
                <a:latin typeface="Consolas"/>
              </a:defRPr>
            </a:pPr>
            <a:r>
              <a:t>deque&lt;snake*&gt; body;</a:t>
            </a:r>
            <a:br/>
            <a:r>
              <a:t>body.push_front(...);</a:t>
            </a:r>
            <a:br/>
            <a:r>
              <a:t>body.pop_back();</a:t>
            </a:r>
          </a:p>
          <a:p>
            <a:pPr>
              <a:spcAft>
                <a:spcPts val="300"/>
              </a:spcAft>
              <a:defRPr sz="400" b="0">
                <a:solidFill>
                  <a:srgbClr val="D2D7DC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E64650"/>
                </a:solidFill>
                <a:latin typeface="Consolas"/>
              </a:defRPr>
            </a:pPr>
            <a:r>
              <a:t>传统写法</a:t>
            </a:r>
          </a:p>
          <a:p>
            <a:pPr>
              <a:spcAft>
                <a:spcPts val="300"/>
              </a:spcAft>
              <a:defRPr sz="1200">
                <a:solidFill>
                  <a:srgbClr val="D2D7DC"/>
                </a:solidFill>
                <a:latin typeface="Consolas"/>
              </a:defRPr>
            </a:pPr>
            <a:r>
              <a:t>point body[100]; // 定长数组</a:t>
            </a:r>
            <a:br/>
            <a:r>
              <a:t>int head=0, tail=3; // 手动维护索引</a:t>
            </a:r>
          </a:p>
          <a:p>
            <a:pPr>
              <a:spcAft>
                <a:spcPts val="300"/>
              </a:spcAft>
              <a:defRPr sz="400" b="0">
                <a:solidFill>
                  <a:srgbClr val="D2D7DC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F09632"/>
                </a:solidFill>
                <a:latin typeface="Consolas"/>
              </a:defRPr>
            </a:pPr>
            <a:r>
              <a:t>优势：自动管理、双端操作高效、避免越界、代码简洁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657600" cy="2286000"/>
          </a:xfrm>
          <a:prstGeom prst="rect">
            <a:avLst/>
          </a:prstGeom>
          <a:solidFill>
            <a:srgbClr val="232630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BEDC"/>
                </a:solidFill>
                <a:latin typeface="Microsoft YaHei"/>
              </a:defRPr>
            </a:pPr>
            <a:r>
              <a:t>范围 for 遍历容器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48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8B464"/>
                </a:solidFill>
                <a:latin typeface="Microsoft YaHei"/>
              </a:defRPr>
            </a:pPr>
            <a:r>
              <a:t>现代写法</a:t>
            </a:r>
          </a:p>
          <a:p>
            <a:pPr>
              <a:spcAft>
                <a:spcPts val="3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for (auto seg : body) {</a:t>
            </a:r>
            <a:br/>
            <a:r>
              <a:t>    if (seg != this)</a:t>
            </a:r>
            <a:br/>
            <a:r>
              <a:t>        delete seg;</a:t>
            </a:r>
            <a:br/>
            <a:r>
              <a:t>}</a:t>
            </a:r>
          </a:p>
          <a:p>
            <a:pPr>
              <a:spcAft>
                <a:spcPts val="3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E64650"/>
                </a:solidFill>
                <a:latin typeface="Microsoft YaHei"/>
              </a:defRPr>
            </a:pPr>
            <a:r>
              <a:t>传统写法</a:t>
            </a:r>
          </a:p>
          <a:p>
            <a:pPr>
              <a:spcAft>
                <a:spcPts val="3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for (size_t i=0; i&lt;body.size(); i++) {</a:t>
            </a:r>
            <a:br/>
            <a:r>
              <a:t>    if (body[i] != this)</a:t>
            </a:r>
            <a:br/>
            <a:r>
              <a:t>        delete body[i];</a:t>
            </a:r>
            <a:br/>
            <a:r>
              <a:t>}</a:t>
            </a:r>
          </a:p>
          <a:p>
            <a:pPr>
              <a:spcAft>
                <a:spcPts val="3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F09632"/>
                </a:solidFill>
                <a:latin typeface="Microsoft YaHei"/>
              </a:defRPr>
            </a:pPr>
            <a:r>
              <a:t>优势：语义清晰、避免索引越界、auto 自动推导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645920"/>
            <a:ext cx="3383280" cy="2286000"/>
          </a:xfrm>
          <a:prstGeom prst="rect">
            <a:avLst/>
          </a:prstGeom>
          <a:solidFill>
            <a:srgbClr val="232630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7373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BEDC"/>
                </a:solidFill>
                <a:latin typeface="Microsoft YaHei"/>
              </a:defRPr>
            </a:pPr>
            <a:r>
              <a:t>override 关键字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14884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8B464"/>
                </a:solidFill>
                <a:latin typeface="Microsoft YaHei"/>
              </a:defRPr>
            </a:pPr>
            <a:r>
              <a:t>现代写法</a:t>
            </a:r>
          </a:p>
          <a:p>
            <a:pPr>
              <a:spcAft>
                <a:spcPts val="3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void update(...) override {</a:t>
            </a:r>
            <a:br/>
            <a:r>
              <a:t>    // 编译器检查是否</a:t>
            </a:r>
            <a:br/>
            <a:r>
              <a:t>    // 正确重写了基类虚函数</a:t>
            </a:r>
            <a:br/>
            <a:r>
              <a:t>}</a:t>
            </a:r>
          </a:p>
          <a:p>
            <a:pPr>
              <a:spcAft>
                <a:spcPts val="3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E64650"/>
                </a:solidFill>
                <a:latin typeface="Microsoft YaHei"/>
              </a:defRPr>
            </a:pPr>
            <a:r>
              <a:t>传统写法</a:t>
            </a:r>
          </a:p>
          <a:p>
            <a:pPr>
              <a:spcAft>
                <a:spcPts val="3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void update(...) {</a:t>
            </a:r>
            <a:br/>
            <a:r>
              <a:t>    // 如果函数签名写错</a:t>
            </a:r>
            <a:br/>
            <a:r>
              <a:t>    // 编译器不会报错</a:t>
            </a:r>
            <a:br/>
            <a:r>
              <a:t>    // 变成定义新函数而非重写</a:t>
            </a:r>
            <a:br/>
            <a:r>
              <a:t>}</a:t>
            </a:r>
          </a:p>
          <a:p>
            <a:pPr>
              <a:spcAft>
                <a:spcPts val="3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F09632"/>
                </a:solidFill>
                <a:latin typeface="Microsoft YaHei"/>
              </a:defRPr>
            </a:pPr>
            <a:r>
              <a:t>优势：编译期检查，防止手误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11247120" cy="2377440"/>
          </a:xfrm>
          <a:prstGeom prst="rect">
            <a:avLst/>
          </a:prstGeom>
          <a:solidFill>
            <a:srgbClr val="232630"/>
          </a:solidFill>
          <a:ln w="1905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EDC"/>
                </a:solidFill>
                <a:latin typeface="Microsoft YaHei"/>
              </a:defRPr>
            </a:pPr>
            <a:r>
              <a:t>现代 C++ 特性应用总结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709160"/>
            <a:ext cx="3291840" cy="868680"/>
          </a:xfrm>
          <a:prstGeom prst="rect">
            <a:avLst/>
          </a:prstGeom>
          <a:solidFill>
            <a:srgbClr val="262B35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EDC"/>
                </a:solidFill>
                <a:latin typeface="Consolas"/>
              </a:defRPr>
            </a:pPr>
            <a:r>
              <a:t>deque&lt;T&gt;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D7DC"/>
                </a:solidFill>
                <a:latin typeface="Microsoft YaHei"/>
              </a:defRPr>
            </a:pPr>
            <a:r>
              <a:t>双端队列，push_front / pop_back 高效管理蛇身，自动分配内存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4709160"/>
            <a:ext cx="3291840" cy="868680"/>
          </a:xfrm>
          <a:prstGeom prst="rect">
            <a:avLst/>
          </a:prstGeom>
          <a:solidFill>
            <a:srgbClr val="262B35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EDC"/>
                </a:solidFill>
                <a:latin typeface="Consolas"/>
              </a:defRPr>
            </a:pPr>
            <a:r>
              <a:t>范围 for + auto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074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D7DC"/>
                </a:solidFill>
                <a:latin typeface="Microsoft YaHei"/>
              </a:defRPr>
            </a:pPr>
            <a:r>
              <a:t>简洁遍历容器，语义清晰，避免索引错误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3291840" cy="868680"/>
          </a:xfrm>
          <a:prstGeom prst="rect">
            <a:avLst/>
          </a:prstGeom>
          <a:solidFill>
            <a:srgbClr val="262B35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EDC"/>
                </a:solidFill>
                <a:latin typeface="Consolas"/>
              </a:defRPr>
            </a:pPr>
            <a:r>
              <a:t>override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074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D7DC"/>
                </a:solidFill>
                <a:latin typeface="Microsoft YaHei"/>
              </a:defRPr>
            </a:pPr>
            <a:r>
              <a:t>明确标注重写意图，编译器帮助检查签名匹配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715000"/>
            <a:ext cx="3291840" cy="868680"/>
          </a:xfrm>
          <a:prstGeom prst="rect">
            <a:avLst/>
          </a:prstGeom>
          <a:solidFill>
            <a:srgbClr val="262B35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60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EDC"/>
                </a:solidFill>
                <a:latin typeface="Consolas"/>
              </a:defRPr>
            </a:pPr>
            <a:r>
              <a:t>virtual 虚函数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80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D7DC"/>
                </a:solidFill>
                <a:latin typeface="Microsoft YaHei"/>
              </a:defRPr>
            </a:pPr>
            <a:r>
              <a:t>基类定义接口，派生类重写实现，运行时多态调用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5715000"/>
            <a:ext cx="3291840" cy="868680"/>
          </a:xfrm>
          <a:prstGeom prst="rect">
            <a:avLst/>
          </a:prstGeom>
          <a:solidFill>
            <a:srgbClr val="262B35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5760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EDC"/>
                </a:solidFill>
                <a:latin typeface="Consolas"/>
              </a:defRPr>
            </a:pPr>
            <a:r>
              <a:t>private 封装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080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D7DC"/>
                </a:solidFill>
                <a:latin typeface="Microsoft YaHei"/>
              </a:defRPr>
            </a:pPr>
            <a:r>
              <a:t>direction 等数据隐藏于类内部，外部只能通过公开接口访问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四、核心难点与解决方案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DB5BD"/>
                </a:solidFill>
                <a:latin typeface="Microsoft YaHei"/>
              </a:defRPr>
            </a:pPr>
            <a:r>
              <a:t>暂停后无法恢复的 Bug — 发现、定位、修复全过程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03520" cy="2560320"/>
          </a:xfrm>
          <a:prstGeom prst="rect">
            <a:avLst/>
          </a:prstGeom>
          <a:solidFill>
            <a:srgbClr val="232630"/>
          </a:solidFill>
          <a:ln w="19050">
            <a:solidFill>
              <a:srgbClr val="E6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4650"/>
                </a:solidFill>
                <a:latin typeface="Microsoft YaHei"/>
              </a:defRPr>
            </a:pPr>
            <a:r>
              <a:t>问题现象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玩家按一次 P 键，游戏正常暂停，画面显示 "PAUSED" 提示。</a:t>
            </a:r>
          </a:p>
          <a:p>
            <a:pPr>
              <a:spcAft>
                <a:spcPts val="7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再按一次 P 键，游戏无法恢复，一直卡在暂停状态。</a:t>
            </a:r>
          </a:p>
          <a:p>
            <a:pPr>
              <a:spcAft>
                <a:spcPts val="7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无论按多少次 P 都没有反应。</a:t>
            </a:r>
          </a:p>
          <a:p>
            <a:pPr>
              <a:spcAft>
                <a:spcPts val="700"/>
              </a:spcAft>
              <a:defRPr sz="6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09632"/>
                </a:solidFill>
                <a:latin typeface="Microsoft YaHei"/>
              </a:defRPr>
            </a:pPr>
            <a:r>
              <a:t>初步排查</a:t>
            </a:r>
          </a:p>
          <a:p>
            <a:pPr>
              <a:spcAft>
                <a:spcPts val="7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stop() 函数中的等待循环本身是正常工作的。当按 P 键时，程序确实能够从循环中退出，pause 标志也正确地变为了 false。</a:t>
            </a:r>
          </a:p>
          <a:p>
            <a:pPr>
              <a:spcAft>
                <a:spcPts val="7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这说明暂停循环本身没有问题，问题应该出在退出循环之后的环节。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303520" cy="2560320"/>
          </a:xfrm>
          <a:prstGeom prst="rect">
            <a:avLst/>
          </a:prstGeom>
          <a:solidFill>
            <a:srgbClr val="232630"/>
          </a:solidFill>
          <a:ln w="19050">
            <a:solidFill>
              <a:srgbClr val="F0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9632"/>
                </a:solidFill>
                <a:latin typeface="Microsoft YaHei"/>
              </a:defRPr>
            </a:pPr>
            <a:r>
              <a:t>根因分析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AD23C"/>
                </a:solidFill>
                <a:latin typeface="Microsoft YaHei"/>
              </a:defRPr>
            </a:pPr>
            <a:r>
              <a:t>关键发现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当从 stop() 函数返回后，变量 key 的值仍然是 'p'，并没有被清除！</a:t>
            </a:r>
          </a:p>
          <a:p>
            <a:pPr>
              <a:spcAft>
                <a:spcPts val="400"/>
              </a:spcAft>
              <a:defRPr sz="6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700" b="1">
                <a:solidFill>
                  <a:srgbClr val="FAD23C"/>
                </a:solidFill>
                <a:latin typeface="Microsoft YaHei"/>
              </a:defRPr>
            </a:pPr>
            <a:r>
              <a:t>死循环形成机制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1. 按 P 进入暂停 ➜ stop() 循环等待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2. 再按 P 退出暂停 ➜ pause=false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3. 返回主循环 ➜ key 仍是 'p'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4. 下一帧检测到 key=='p' ➜ 再次暂停！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5. 回到步骤 1，形成死循环</a:t>
            </a:r>
          </a:p>
          <a:p>
            <a:pPr>
              <a:spcAft>
                <a:spcPts val="4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E64650"/>
                </a:solidFill>
                <a:latin typeface="Microsoft YaHei"/>
              </a:defRPr>
            </a:pPr>
            <a:r>
              <a:t>根源：stop() 恢复后未清除 key 变量，导致下一帧误判再次暂停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11155680" cy="2194560"/>
          </a:xfrm>
          <a:prstGeom prst="rect">
            <a:avLst/>
          </a:prstGeom>
          <a:solidFill>
            <a:srgbClr val="232630"/>
          </a:solidFill>
          <a:ln w="19050">
            <a:solidFill>
              <a:srgbClr val="28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B464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92040"/>
            <a:ext cx="5669280" cy="1600200"/>
          </a:xfrm>
          <a:prstGeom prst="rect">
            <a:avLst/>
          </a:prstGeom>
          <a:solidFill>
            <a:srgbClr val="20202A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94690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B464"/>
                </a:solidFill>
                <a:latin typeface="Microsoft YaHei"/>
              </a:defRPr>
            </a:pPr>
            <a:r>
              <a:t>修复代码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57800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// 修复前：只设置 pause = false，未清理 key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if (temp == 'p' || temp == 'P')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pause = false;                    // 恢复标志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gotoxy(0, height);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cout &lt;&lt; "                           "; // 清除提示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// BUG! 缺少对 key 的清理！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// 修复后：增加 key = '\0' 清除残留按键值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if (temp == 'p' || temp == 'P')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pause = false;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gotoxy(0, height);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cout &lt;&lt; "                           ";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key = '\0';  // 关键修复：清除按键状态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892040"/>
            <a:ext cx="5120640" cy="1600200"/>
          </a:xfrm>
          <a:prstGeom prst="rect">
            <a:avLst/>
          </a:prstGeom>
          <a:solidFill>
            <a:srgbClr val="262B35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9560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EDC"/>
                </a:solidFill>
                <a:latin typeface="Microsoft YaHei"/>
              </a:defRPr>
            </a:pPr>
            <a:r>
              <a:t>调试心得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3035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1. 先缩小范围：确认 stop() 循环本身正常</a:t>
            </a:r>
          </a:p>
          <a:p>
            <a:pPr>
              <a:spcAft>
                <a:spcPts val="5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2. 检查边界：关注循环退出后的状态变量</a:t>
            </a:r>
          </a:p>
          <a:p>
            <a:pPr>
              <a:spcAft>
                <a:spcPts val="5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3. 跟踪变量：打印/观察 key 的值变化</a:t>
            </a:r>
          </a:p>
          <a:p>
            <a:pPr>
              <a:spcAft>
                <a:spcPts val="5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4. 思考流程：推演每一帧的执行路径</a:t>
            </a:r>
          </a:p>
          <a:p>
            <a:pPr>
              <a:spcAft>
                <a:spcPts val="5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300" b="1">
                <a:solidFill>
                  <a:srgbClr val="F09632"/>
                </a:solidFill>
                <a:latin typeface="Microsoft YaHei"/>
              </a:defRPr>
            </a:pPr>
            <a:r>
              <a:t>教训：状态变量在使用后要及时清理，否则会被下次循环误读。</a:t>
            </a:r>
          </a:p>
          <a:p>
            <a:pPr>
              <a:spcAft>
                <a:spcPts val="500"/>
              </a:spcAft>
              <a:defRPr sz="1300" b="0">
                <a:solidFill>
                  <a:srgbClr val="D2D7DC"/>
                </a:solidFill>
                <a:latin typeface="Microsoft YaHei"/>
              </a:defRPr>
            </a:pPr>
            <a:r>
              <a:t>好的调试 = 假设 + 验证 + 缩小范围 + 找根因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五、代码改进对比分析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DB5BD"/>
                </a:solidFill>
                <a:latin typeface="Microsoft YaHei"/>
              </a:defRPr>
            </a:pPr>
            <a:r>
              <a:t>snake.cpp 关键改进点一览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44752"/>
            <a:ext cx="11155680" cy="347472"/>
          </a:xfrm>
          <a:prstGeom prst="rect">
            <a:avLst/>
          </a:prstGeom>
          <a:solidFill>
            <a:srgbClr val="32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改进项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63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snake.cpp（改进前）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63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snake1.cpp（改进后）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83664"/>
            <a:ext cx="11155680" cy="438912"/>
          </a:xfrm>
          <a:prstGeom prst="rect">
            <a:avLst/>
          </a:prstGeom>
          <a:solidFill>
            <a:srgbClr val="23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38528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6E78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38528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全局变量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1929384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1901952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width / height / console</a:t>
            </a:r>
          </a:p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3 个全局变量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929384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无全局变量</a:t>
            </a:r>
          </a:p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常量放入类或 namespace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59152"/>
            <a:ext cx="11155680" cy="438912"/>
          </a:xfrm>
          <a:prstGeom prst="rect">
            <a:avLst/>
          </a:prstGeom>
          <a:solidFill>
            <a:srgbClr val="26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1401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6E78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414016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继承关系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2404872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2377440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snake / apple → point</a:t>
            </a:r>
          </a:p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"蛇是一个点"语义不当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404872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37744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合理的 IS-A 继承</a:t>
            </a:r>
          </a:p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基类提供虚函数接口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11155680" cy="438912"/>
          </a:xfrm>
          <a:prstGeom prst="rect">
            <a:avLst/>
          </a:prstGeom>
          <a:solidFill>
            <a:srgbClr val="23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889504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6E7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889504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虚函数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2880360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2852928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virtual update()</a:t>
            </a:r>
          </a:p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未被声明为纯虚函数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880360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85292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保留虚函数设计</a:t>
            </a:r>
          </a:p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派生类正确重写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10128"/>
            <a:ext cx="11155680" cy="438912"/>
          </a:xfrm>
          <a:prstGeom prst="rect">
            <a:avLst/>
          </a:prstGeom>
          <a:solidFill>
            <a:srgbClr val="26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364992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6E78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364992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方向表示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0" y="3355848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3328416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裸整数 0/1/2/3</a:t>
            </a:r>
          </a:p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无语义，难理解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3355848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32841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使用有意义的常量</a:t>
            </a:r>
          </a:p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或 enum 枚举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785616"/>
            <a:ext cx="11155680" cy="438912"/>
          </a:xfrm>
          <a:prstGeom prst="rect">
            <a:avLst/>
          </a:prstGeom>
          <a:solidFill>
            <a:srgbClr val="23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840480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6E78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3840480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随机数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1680" y="3831336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94560" y="380390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rand() % N</a:t>
            </a:r>
          </a:p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存在取模偏差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3831336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3803904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可改用 &lt;random&gt;</a:t>
            </a:r>
          </a:p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mt19937 + 均匀分布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261104"/>
            <a:ext cx="11155680" cy="438912"/>
          </a:xfrm>
          <a:prstGeom prst="rect">
            <a:avLst/>
          </a:prstGeom>
          <a:solidFill>
            <a:srgbClr val="26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315968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6E78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4315968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蛇身存储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11680" y="4306824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94560" y="4279392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deque&lt;snake*&gt;</a:t>
            </a:r>
          </a:p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裸指针，手动 delete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306824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27939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deque 或 vector</a:t>
            </a:r>
          </a:p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值语义，自动管理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736592"/>
            <a:ext cx="11155680" cy="438912"/>
          </a:xfrm>
          <a:prstGeom prst="rect">
            <a:avLst/>
          </a:prstGeom>
          <a:solidFill>
            <a:srgbClr val="23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479145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6E78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4791456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渲染方式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11680" y="4782312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94560" y="4754880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字符串拼接 + 索引计算</a:t>
            </a:r>
          </a:p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back += "##"; back[idx] = ...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2200" y="4782312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475488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可改为二维字符网格</a:t>
            </a:r>
          </a:p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grid[y][x] 直观索引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212080"/>
            <a:ext cx="11155680" cy="438912"/>
          </a:xfrm>
          <a:prstGeom prst="rect">
            <a:avLst/>
          </a:prstGeom>
          <a:solidFill>
            <a:srgbClr val="26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5266944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6E78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5266944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暂停 Bug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11680" y="5257800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94560" y="5230368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停止暂停时未清除 key</a:t>
            </a:r>
          </a:p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导致死循环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2200" y="5257800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0" y="523036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增加 key = '\0'</a:t>
            </a:r>
          </a:p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彻底清除残留状态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5687568"/>
            <a:ext cx="11155680" cy="438912"/>
          </a:xfrm>
          <a:prstGeom prst="rect">
            <a:avLst/>
          </a:prstGeom>
          <a:solidFill>
            <a:srgbClr val="23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5742432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6E78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5742432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代码风格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11680" y="5733288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94560" y="5705856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使用 C 风格</a:t>
            </a:r>
          </a:p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如手动索引循环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72200" y="5733288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60" y="570585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使用范围 for + auto</a:t>
            </a:r>
          </a:p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代码简洁安全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6163056"/>
            <a:ext cx="11155680" cy="438912"/>
          </a:xfrm>
          <a:prstGeom prst="rect">
            <a:avLst/>
          </a:prstGeom>
          <a:solidFill>
            <a:srgbClr val="26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920" y="6217920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6E78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" y="6217920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封装性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11680" y="6208776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194560" y="618134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成员变量 public 继承</a:t>
            </a:r>
          </a:p>
          <a:p>
            <a:pPr>
              <a:spcAft>
                <a:spcPts val="400"/>
              </a:spcAft>
              <a:defRPr sz="1100">
                <a:solidFill>
                  <a:srgbClr val="E64650"/>
                </a:solidFill>
                <a:latin typeface="Microsoft YaHei"/>
              </a:defRPr>
            </a:pPr>
            <a:r>
              <a:t>保护不足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6208776"/>
            <a:ext cx="18288" cy="347472"/>
          </a:xfrm>
          <a:prstGeom prst="rect">
            <a:avLst/>
          </a:prstGeom>
          <a:solidFill>
            <a:srgbClr val="46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09360" y="6181344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核心数据 private</a:t>
            </a:r>
          </a:p>
          <a:p>
            <a:pPr>
              <a:spcAft>
                <a:spcPts val="400"/>
              </a:spcAft>
              <a:defRPr sz="1100">
                <a:solidFill>
                  <a:srgbClr val="28B464"/>
                </a:solidFill>
                <a:latin typeface="Microsoft YaHei"/>
              </a:defRPr>
            </a:pPr>
            <a:r>
              <a:t>通过公开方法访问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六、编译与运行说明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DB5BD"/>
                </a:solidFill>
                <a:latin typeface="Microsoft YaHei"/>
              </a:defRPr>
            </a:pPr>
            <a:r>
              <a:t>环境要求 / 编译命令 / 操作指南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2560320"/>
          </a:xfrm>
          <a:prstGeom prst="rect">
            <a:avLst/>
          </a:prstGeom>
          <a:solidFill>
            <a:srgbClr val="232630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EDC"/>
                </a:solidFill>
                <a:latin typeface="Microsoft YaHei"/>
              </a:defRPr>
            </a:pPr>
            <a:r>
              <a:t>环境要求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09632"/>
                </a:solidFill>
                <a:latin typeface="Microsoft YaHei"/>
              </a:defRPr>
            </a:pPr>
            <a:r>
              <a:t>操作系统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Windows 10 / 11</a:t>
            </a:r>
          </a:p>
          <a:p>
            <a:pPr>
              <a:spcAft>
                <a:spcPts val="400"/>
              </a:spcAft>
              <a:defRPr sz="6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09632"/>
                </a:solidFill>
                <a:latin typeface="Microsoft YaHei"/>
              </a:defRPr>
            </a:pPr>
            <a:r>
              <a:t>编译器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MinGW (g++) 或 Visual Studio (MSVC)</a:t>
            </a:r>
          </a:p>
          <a:p>
            <a:pPr>
              <a:spcAft>
                <a:spcPts val="400"/>
              </a:spcAft>
              <a:defRPr sz="6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09632"/>
                </a:solidFill>
                <a:latin typeface="Microsoft YaHei"/>
              </a:defRPr>
            </a:pPr>
            <a:r>
              <a:t>C++ 标准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C++11 及以上</a:t>
            </a:r>
          </a:p>
          <a:p>
            <a:pPr>
              <a:spcAft>
                <a:spcPts val="400"/>
              </a:spcAft>
              <a:defRPr sz="6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09632"/>
                </a:solidFill>
                <a:latin typeface="Microsoft YaHei"/>
              </a:defRPr>
            </a:pPr>
            <a:r>
              <a:t>控制台窗口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建议设置为 120x30 以上</a:t>
            </a:r>
          </a:p>
          <a:p>
            <a:pPr>
              <a:spcAft>
                <a:spcPts val="400"/>
              </a:spcAft>
              <a:defRPr sz="6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09632"/>
                </a:solidFill>
                <a:latin typeface="Microsoft YaHei"/>
              </a:defRPr>
            </a:pPr>
            <a:r>
              <a:t>平台限制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使用了 &lt;windows.h&gt; 和 &lt;conio.h&gt;</a:t>
            </a:r>
            <a:br/>
            <a:r>
              <a:t>仅支持 Windows 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657600" cy="2560320"/>
          </a:xfrm>
          <a:prstGeom prst="rect">
            <a:avLst/>
          </a:prstGeom>
          <a:solidFill>
            <a:srgbClr val="232630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EDC"/>
                </a:solidFill>
                <a:latin typeface="Microsoft YaHei"/>
              </a:defRPr>
            </a:pPr>
            <a:r>
              <a:t>编译命令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057400"/>
            <a:ext cx="3657600" cy="1234440"/>
          </a:xfrm>
          <a:prstGeom prst="rect">
            <a:avLst/>
          </a:prstGeom>
          <a:solidFill>
            <a:srgbClr val="20202A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122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终端命令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:: MinGW (g++)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g++ -std=c++11 snake.cpp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 -o snake.exe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:: Visual Studio (MSVC)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cl /EHsc snake.cpp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   /Fe:snake.exe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:: 或直接双击 .exe 运行</a:t>
            </a:r>
          </a:p>
          <a:p>
            <a:pPr>
              <a:spcAft>
                <a:spcPts val="300"/>
              </a:spcAft>
              <a:defRPr sz="1050">
                <a:solidFill>
                  <a:srgbClr val="C3CDD7"/>
                </a:solidFill>
                <a:latin typeface="Microsoft YaHei"/>
              </a:defRPr>
            </a:pPr>
            <a:r>
              <a:t>snake.exe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554480"/>
            <a:ext cx="3383280" cy="2560320"/>
          </a:xfrm>
          <a:prstGeom prst="rect">
            <a:avLst/>
          </a:prstGeom>
          <a:solidFill>
            <a:srgbClr val="232630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EDC"/>
                </a:solidFill>
                <a:latin typeface="Microsoft YaHei"/>
              </a:defRPr>
            </a:pPr>
            <a:r>
              <a:t>操作指南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031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0BEDC"/>
                </a:solidFill>
                <a:latin typeface="Microsoft YaHei"/>
              </a:defRPr>
            </a:pPr>
            <a:r>
              <a:t>W</a:t>
            </a:r>
          </a:p>
          <a:p>
            <a:pPr>
              <a:spcAft>
                <a:spcPts val="200"/>
              </a:spcAft>
              <a:defRPr sz="1400" b="0">
                <a:solidFill>
                  <a:srgbClr val="D2D7DC"/>
                </a:solidFill>
                <a:latin typeface="Microsoft YaHei"/>
              </a:defRPr>
            </a:pPr>
            <a:r>
              <a:t>向上移动</a:t>
            </a:r>
          </a:p>
          <a:p>
            <a:pPr>
              <a:spcAft>
                <a:spcPts val="2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2400" b="1">
                <a:solidFill>
                  <a:srgbClr val="00BEDC"/>
                </a:solidFill>
                <a:latin typeface="Microsoft YaHei"/>
              </a:defRPr>
            </a:pPr>
            <a:r>
              <a:t>S</a:t>
            </a:r>
          </a:p>
          <a:p>
            <a:pPr>
              <a:spcAft>
                <a:spcPts val="200"/>
              </a:spcAft>
              <a:defRPr sz="1400" b="0">
                <a:solidFill>
                  <a:srgbClr val="D2D7DC"/>
                </a:solidFill>
                <a:latin typeface="Microsoft YaHei"/>
              </a:defRPr>
            </a:pPr>
            <a:r>
              <a:t>向下移动</a:t>
            </a:r>
          </a:p>
          <a:p>
            <a:pPr>
              <a:spcAft>
                <a:spcPts val="2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2400" b="1">
                <a:solidFill>
                  <a:srgbClr val="00BEDC"/>
                </a:solidFill>
                <a:latin typeface="Microsoft YaHei"/>
              </a:defRPr>
            </a:pPr>
            <a:r>
              <a:t>A</a:t>
            </a:r>
          </a:p>
          <a:p>
            <a:pPr>
              <a:spcAft>
                <a:spcPts val="200"/>
              </a:spcAft>
              <a:defRPr sz="1400" b="0">
                <a:solidFill>
                  <a:srgbClr val="D2D7DC"/>
                </a:solidFill>
                <a:latin typeface="Microsoft YaHei"/>
              </a:defRPr>
            </a:pPr>
            <a:r>
              <a:t>向左移动</a:t>
            </a:r>
          </a:p>
          <a:p>
            <a:pPr>
              <a:spcAft>
                <a:spcPts val="2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2400" b="1">
                <a:solidFill>
                  <a:srgbClr val="00BEDC"/>
                </a:solidFill>
                <a:latin typeface="Microsoft YaHei"/>
              </a:defRPr>
            </a:pPr>
            <a:r>
              <a:t>D</a:t>
            </a:r>
          </a:p>
          <a:p>
            <a:pPr>
              <a:spcAft>
                <a:spcPts val="200"/>
              </a:spcAft>
              <a:defRPr sz="1400" b="0">
                <a:solidFill>
                  <a:srgbClr val="D2D7DC"/>
                </a:solidFill>
                <a:latin typeface="Microsoft YaHei"/>
              </a:defRPr>
            </a:pPr>
            <a:r>
              <a:t>向右移动</a:t>
            </a:r>
          </a:p>
          <a:p>
            <a:pPr>
              <a:spcAft>
                <a:spcPts val="2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2400" b="1">
                <a:solidFill>
                  <a:srgbClr val="FAD23C"/>
                </a:solidFill>
                <a:latin typeface="Microsoft YaHei"/>
              </a:defRPr>
            </a:pPr>
            <a:r>
              <a:t>P</a:t>
            </a:r>
          </a:p>
          <a:p>
            <a:pPr>
              <a:spcAft>
                <a:spcPts val="200"/>
              </a:spcAft>
              <a:defRPr sz="1400" b="0">
                <a:solidFill>
                  <a:srgbClr val="D2D7DC"/>
                </a:solidFill>
                <a:latin typeface="Microsoft YaHei"/>
              </a:defRPr>
            </a:pPr>
            <a:r>
              <a:t>暂停 / 继续</a:t>
            </a:r>
          </a:p>
          <a:p>
            <a:pPr>
              <a:spcAft>
                <a:spcPts val="2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2400" b="1">
                <a:solidFill>
                  <a:srgbClr val="E64650"/>
                </a:solidFill>
                <a:latin typeface="Microsoft YaHei"/>
              </a:defRPr>
            </a:pPr>
            <a:r>
              <a:t>Q</a:t>
            </a:r>
          </a:p>
          <a:p>
            <a:pPr>
              <a:spcAft>
                <a:spcPts val="200"/>
              </a:spcAft>
              <a:defRPr sz="1400" b="0">
                <a:solidFill>
                  <a:srgbClr val="D2D7DC"/>
                </a:solidFill>
                <a:latin typeface="Microsoft YaHei"/>
              </a:defRPr>
            </a:pPr>
            <a:r>
              <a:t>退出游戏</a:t>
            </a:r>
          </a:p>
          <a:p>
            <a:pPr>
              <a:spcAft>
                <a:spcPts val="2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2400" b="1">
                <a:solidFill>
                  <a:srgbClr val="28B464"/>
                </a:solidFill>
                <a:latin typeface="Microsoft YaHei"/>
              </a:defRPr>
            </a:pPr>
            <a:r>
              <a:t>R</a:t>
            </a:r>
          </a:p>
          <a:p>
            <a:pPr>
              <a:spcAft>
                <a:spcPts val="200"/>
              </a:spcAft>
              <a:defRPr sz="1400" b="0">
                <a:solidFill>
                  <a:srgbClr val="D2D7DC"/>
                </a:solidFill>
                <a:latin typeface="Microsoft YaHei"/>
              </a:defRPr>
            </a:pPr>
            <a:r>
              <a:t>重新开始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11247120" cy="2194560"/>
          </a:xfrm>
          <a:prstGeom prst="rect">
            <a:avLst/>
          </a:prstGeom>
          <a:solidFill>
            <a:srgbClr val="232630"/>
          </a:solidFill>
          <a:ln w="1905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EDC"/>
                </a:solidFill>
                <a:latin typeface="Microsoft YaHei"/>
              </a:defRPr>
            </a:pPr>
            <a:r>
              <a:t>游戏主循环流程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92040"/>
            <a:ext cx="2011680" cy="1554480"/>
          </a:xfrm>
          <a:prstGeom prst="rect">
            <a:avLst/>
          </a:prstGeom>
          <a:solidFill>
            <a:srgbClr val="262A34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56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EDC"/>
                </a:solidFill>
                <a:latin typeface="Microsoft YaHei"/>
              </a:defRPr>
            </a:pPr>
            <a:r>
              <a:t>1. 初始化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创建 Snake</a:t>
            </a:r>
          </a:p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创建 Apple</a:t>
            </a:r>
          </a:p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设置初始参数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349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EDC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4892040"/>
            <a:ext cx="2011680" cy="1554480"/>
          </a:xfrm>
          <a:prstGeom prst="rect">
            <a:avLst/>
          </a:prstGeom>
          <a:solidFill>
            <a:srgbClr val="262A34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4956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EDC"/>
                </a:solidFill>
                <a:latin typeface="Microsoft YaHei"/>
              </a:defRPr>
            </a:pPr>
            <a:r>
              <a:t>2. 绘制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303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清屏</a:t>
            </a:r>
          </a:p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绘制墙壁边框</a:t>
            </a:r>
          </a:p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绘制蛇身 (O)</a:t>
            </a:r>
          </a:p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绘制食物 (@)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349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EDC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4892040"/>
            <a:ext cx="2011680" cy="1554480"/>
          </a:xfrm>
          <a:prstGeom prst="rect">
            <a:avLst/>
          </a:prstGeom>
          <a:solidFill>
            <a:srgbClr val="262A34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4956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EDC"/>
                </a:solidFill>
                <a:latin typeface="Microsoft YaHei"/>
              </a:defRPr>
            </a:pPr>
            <a:r>
              <a:t>3. 输入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5303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检测键盘输入</a:t>
            </a:r>
          </a:p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WASD 方向切换</a:t>
            </a:r>
          </a:p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P 暂停 / Q 退出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349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EDC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4892040"/>
            <a:ext cx="2011680" cy="1554480"/>
          </a:xfrm>
          <a:prstGeom prst="rect">
            <a:avLst/>
          </a:prstGeom>
          <a:solidFill>
            <a:srgbClr val="262A34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4956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EDC"/>
                </a:solidFill>
                <a:latin typeface="Microsoft YaHei"/>
              </a:defRPr>
            </a:pPr>
            <a:r>
              <a:t>4. 更新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5303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蛇移动</a:t>
            </a:r>
          </a:p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碰撞检测</a:t>
            </a:r>
          </a:p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吃食物判断</a:t>
            </a:r>
          </a:p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分数更新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349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EDC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0" y="4892040"/>
            <a:ext cx="2011680" cy="1554480"/>
          </a:xfrm>
          <a:prstGeom prst="rect">
            <a:avLst/>
          </a:prstGeom>
          <a:solidFill>
            <a:srgbClr val="262A34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4956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EDC"/>
                </a:solidFill>
                <a:latin typeface="Microsoft YaHei"/>
              </a:defRPr>
            </a:pPr>
            <a:r>
              <a:t>5. 判断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5303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碰墙？→ 游戏结束</a:t>
            </a:r>
          </a:p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碰自身？→ 游戏结束</a:t>
            </a:r>
          </a:p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达到 50 分？→ 胜利</a:t>
            </a:r>
          </a:p>
          <a:p>
            <a:pPr>
              <a:spcAft>
                <a:spcPts val="400"/>
              </a:spcAft>
              <a:defRPr sz="1200">
                <a:solidFill>
                  <a:srgbClr val="D2D7DC"/>
                </a:solidFill>
                <a:latin typeface="Microsoft YaHei"/>
              </a:defRPr>
            </a:pPr>
            <a:r>
              <a:t>否则回到步骤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七、总结与展望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DB5BD"/>
                </a:solidFill>
                <a:latin typeface="Microsoft YaHei"/>
              </a:defRPr>
            </a:pPr>
            <a:r>
              <a:t>收获心得 / 存在不足 / 改进方向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00" cy="5029200"/>
          </a:xfrm>
          <a:prstGeom prst="rect">
            <a:avLst/>
          </a:prstGeom>
          <a:solidFill>
            <a:srgbClr val="232630"/>
          </a:solidFill>
          <a:ln w="19050">
            <a:solidFill>
              <a:srgbClr val="28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B464"/>
                </a:solidFill>
                <a:latin typeface="Microsoft YaHei"/>
              </a:defRPr>
            </a:pPr>
            <a:r>
              <a:t>收获与心得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09632"/>
                </a:solidFill>
                <a:latin typeface="Microsoft YaHei"/>
              </a:defRPr>
            </a:pPr>
            <a:r>
              <a:t>OOP 设计能力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深入理解了面向对象设计的核心思想：从类的职责划分到继承关系的选择，体会了封装、继承、多态的实际应用价值。</a:t>
            </a:r>
          </a:p>
          <a:p>
            <a:pPr>
              <a:spcAft>
                <a:spcPts val="400"/>
              </a:spcAft>
              <a:defRPr sz="6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700" b="1">
                <a:solidFill>
                  <a:srgbClr val="F09632"/>
                </a:solidFill>
                <a:latin typeface="Microsoft YaHei"/>
              </a:defRPr>
            </a:pPr>
            <a:r>
              <a:t>现代 C++ 编程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掌握了 deque、范围 for、auto、override 等现代 C++ 特性的实际应用场景，理解了它们相比传统写法的优势。</a:t>
            </a:r>
          </a:p>
          <a:p>
            <a:pPr>
              <a:spcAft>
                <a:spcPts val="400"/>
              </a:spcAft>
              <a:defRPr sz="6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700" b="1">
                <a:solidFill>
                  <a:srgbClr val="F09632"/>
                </a:solidFill>
                <a:latin typeface="Microsoft YaHei"/>
              </a:defRPr>
            </a:pPr>
            <a:r>
              <a:t>调试能力提升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通过解决暂停后无法恢复的 Bug，学会了系统性的问题定位方法：观察现象 → 提出假设 → 缩小范围 → 验证根因 → 精准修复。</a:t>
            </a:r>
          </a:p>
          <a:p>
            <a:pPr>
              <a:spcAft>
                <a:spcPts val="400"/>
              </a:spcAft>
              <a:defRPr sz="6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700" b="1">
                <a:solidFill>
                  <a:srgbClr val="F09632"/>
                </a:solidFill>
                <a:latin typeface="Microsoft YaHei"/>
              </a:defRPr>
            </a:pPr>
            <a:r>
              <a:t>游戏开发基础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理解了游戏主循环、碰撞检测、渲染输出等游戏开发基本概念，为后续更复杂的游戏开发打下基础。</a:t>
            </a:r>
          </a:p>
          <a:p>
            <a:pPr>
              <a:spcAft>
                <a:spcPts val="400"/>
              </a:spcAft>
              <a:defRPr sz="6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700" b="1">
                <a:solidFill>
                  <a:srgbClr val="F09632"/>
                </a:solidFill>
                <a:latin typeface="Microsoft YaHei"/>
              </a:defRPr>
            </a:pPr>
            <a:r>
              <a:t>工程思维</a:t>
            </a:r>
          </a:p>
          <a:p>
            <a:pPr>
              <a:spcAft>
                <a:spcPts val="4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好的设计比能运行的代码更重要。经过多次重构和优化，代码的可读性和可维护性得到极大提升。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394960" cy="2560320"/>
          </a:xfrm>
          <a:prstGeom prst="rect">
            <a:avLst/>
          </a:prstGeom>
          <a:solidFill>
            <a:srgbClr val="232630"/>
          </a:solidFill>
          <a:ln w="19050">
            <a:solidFill>
              <a:srgbClr val="F0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9632"/>
                </a:solidFill>
                <a:latin typeface="Microsoft YaHei"/>
              </a:defRPr>
            </a:pPr>
            <a:r>
              <a:t>当前不足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  食物可能生成在蛇身上，需添加位置合法性检查</a:t>
            </a:r>
          </a:p>
          <a:p>
            <a:pPr>
              <a:spcAft>
                <a:spcPts val="7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  使用 rand() 伪随机，应改用 &lt;random&gt; 的 mt19937</a:t>
            </a:r>
          </a:p>
          <a:p>
            <a:pPr>
              <a:spcAft>
                <a:spcPts val="7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  没有速度变化机制，可随分数增加减少 Sleep 时间</a:t>
            </a:r>
          </a:p>
          <a:p>
            <a:pPr>
              <a:spcAft>
                <a:spcPts val="7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  控制台渲染有轻微闪烁，可改用双缓冲技术</a:t>
            </a:r>
          </a:p>
          <a:p>
            <a:pPr>
              <a:spcAft>
                <a:spcPts val="7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  手动 new/delete 管理内存，可改用 unique_ptr 智能指针</a:t>
            </a:r>
          </a:p>
          <a:p>
            <a:pPr>
              <a:spcAft>
                <a:spcPts val="700"/>
              </a:spcAft>
              <a:defRPr sz="1400">
                <a:solidFill>
                  <a:srgbClr val="D2D7DC"/>
                </a:solidFill>
                <a:latin typeface="Microsoft YaHei"/>
              </a:defRPr>
            </a:pPr>
            <a:r>
              <a:t>  代码中仍存在少量 C 风格写法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389120"/>
            <a:ext cx="5394960" cy="2194560"/>
          </a:xfrm>
          <a:prstGeom prst="rect">
            <a:avLst/>
          </a:prstGeom>
          <a:solidFill>
            <a:srgbClr val="232630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480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EDC"/>
                </a:solidFill>
                <a:latin typeface="Microsoft YaHei"/>
              </a:defRPr>
            </a:pPr>
            <a:r>
              <a:t>未来改进方向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9377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8B464"/>
                </a:solidFill>
                <a:latin typeface="Microsoft YaHei"/>
              </a:defRPr>
            </a:pPr>
            <a:r>
              <a:t>功能扩展</a:t>
            </a:r>
          </a:p>
          <a:p>
            <a:pPr>
              <a:spcAft>
                <a:spcPts val="3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  增加关卡系统 / 障碍物</a:t>
            </a:r>
          </a:p>
          <a:p>
            <a:pPr>
              <a:spcAft>
                <a:spcPts val="3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  增加道具系统（加速/减速/无敌）</a:t>
            </a:r>
          </a:p>
          <a:p>
            <a:pPr>
              <a:spcAft>
                <a:spcPts val="3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  增加分数排行榜</a:t>
            </a:r>
          </a:p>
          <a:p>
            <a:pPr>
              <a:spcAft>
                <a:spcPts val="3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600" b="1">
                <a:solidFill>
                  <a:srgbClr val="28B464"/>
                </a:solidFill>
                <a:latin typeface="Microsoft YaHei"/>
              </a:defRPr>
            </a:pPr>
            <a:r>
              <a:t>技术升级</a:t>
            </a:r>
          </a:p>
          <a:p>
            <a:pPr>
              <a:spcAft>
                <a:spcPts val="3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  引入智能指针替代裸指针</a:t>
            </a:r>
          </a:p>
          <a:p>
            <a:pPr>
              <a:spcAft>
                <a:spcPts val="3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  使用双缓冲消除渲染闪烁</a:t>
            </a:r>
          </a:p>
          <a:p>
            <a:pPr>
              <a:spcAft>
                <a:spcPts val="3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  增加音效反馈</a:t>
            </a:r>
          </a:p>
          <a:p>
            <a:pPr>
              <a:spcAft>
                <a:spcPts val="300"/>
              </a:spcAft>
              <a:defRPr sz="1300">
                <a:solidFill>
                  <a:srgbClr val="D2D7DC"/>
                </a:solidFill>
                <a:latin typeface="Microsoft YaHei"/>
              </a:defRPr>
            </a:pPr>
            <a:r>
              <a:t>  移植到跨平台方案（如 ncurses）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54864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27432"/>
          </a:xfrm>
          <a:prstGeom prst="rect">
            <a:avLst/>
          </a:prstGeom>
          <a:solidFill>
            <a:srgbClr val="3C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BEDC"/>
                </a:solidFill>
                <a:latin typeface="Microsoft YaHei"/>
              </a:defRPr>
            </a:pPr>
            <a:r>
              <a:t>贪吃蛇游戏 — C++课程设计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AB4"/>
                </a:solidFill>
                <a:latin typeface="Microsoft YaHei"/>
              </a:defRPr>
            </a:pPr>
            <a:r>
              <a:t>面向对象设计 · 现代 C++ · 调试经验 · 工程实践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6E78"/>
                </a:solidFill>
                <a:latin typeface="Microsoft YaHei"/>
              </a:defRPr>
            </a:pPr>
            <a:r>
              <a:t>Windows 控制台  |  WASD 移动  |  P 暂停  |  Q 退出  |  R 重玩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